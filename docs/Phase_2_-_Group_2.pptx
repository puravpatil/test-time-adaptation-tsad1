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D4CC"/>
          </a:solidFill>
        </a:fill>
      </a:tcStyle>
    </a:wholeTbl>
    <a:band2H>
      <a:tcTxStyle/>
      <a:tcStyle>
        <a:tcBdr/>
        <a:fill>
          <a:solidFill>
            <a:srgbClr val="FBEB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2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Our reproduction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Sheet1!$A$2:$A$7</c:f>
              <c:strCache>
                <c:ptCount val="6"/>
                <c:pt idx="0">
                  <c:v>1-4</c:v>
                </c:pt>
                <c:pt idx="1">
                  <c:v>1-7</c:v>
                </c:pt>
                <c:pt idx="2">
                  <c:v>1-8</c:v>
                </c:pt>
                <c:pt idx="3">
                  <c:v>2-1</c:v>
                </c:pt>
                <c:pt idx="4">
                  <c:v>2-4</c:v>
                </c:pt>
                <c:pt idx="5">
                  <c:v>3-2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0.461</c:v>
                </c:pt>
                <c:pt idx="1">
                  <c:v>0.276</c:v>
                </c:pt>
                <c:pt idx="2">
                  <c:v>0.255</c:v>
                </c:pt>
                <c:pt idx="3">
                  <c:v>0.338</c:v>
                </c:pt>
                <c:pt idx="4">
                  <c:v>0.418</c:v>
                </c:pt>
                <c:pt idx="5">
                  <c:v>0.076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Published paper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Sheet1!$A$2:$A$7</c:f>
              <c:strCache>
                <c:ptCount val="6"/>
                <c:pt idx="0">
                  <c:v>1-4</c:v>
                </c:pt>
                <c:pt idx="1">
                  <c:v>1-7</c:v>
                </c:pt>
                <c:pt idx="2">
                  <c:v>1-8</c:v>
                </c:pt>
                <c:pt idx="3">
                  <c:v>2-1</c:v>
                </c:pt>
                <c:pt idx="4">
                  <c:v>2-4</c:v>
                </c:pt>
                <c:pt idx="5">
                  <c:v>3-2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0.354</c:v>
                </c:pt>
                <c:pt idx="1">
                  <c:v>0.718</c:v>
                </c:pt>
                <c:pt idx="2">
                  <c:v>0.354</c:v>
                </c:pt>
                <c:pt idx="3">
                  <c:v>0.296</c:v>
                </c:pt>
                <c:pt idx="4">
                  <c:v>0.461</c:v>
                </c:pt>
                <c:pt idx="5">
                  <c:v>0.188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latin typeface="Times New Roman"/>
                  </a:rPr>
                  <a:t>SMD machine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Static baseline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Sheet1!$A$2:$A$7</c:f>
              <c:strCache>
                <c:ptCount val="6"/>
                <c:pt idx="0">
                  <c:v>1-4</c:v>
                </c:pt>
                <c:pt idx="1">
                  <c:v>1-7</c:v>
                </c:pt>
                <c:pt idx="2">
                  <c:v>1-8</c:v>
                </c:pt>
                <c:pt idx="3">
                  <c:v>2-1</c:v>
                </c:pt>
                <c:pt idx="4">
                  <c:v>2-4</c:v>
                </c:pt>
                <c:pt idx="5">
                  <c:v>3-2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0.759</c:v>
                </c:pt>
                <c:pt idx="1">
                  <c:v>0.81</c:v>
                </c:pt>
                <c:pt idx="2">
                  <c:v>0.671</c:v>
                </c:pt>
                <c:pt idx="3">
                  <c:v>0.697</c:v>
                </c:pt>
                <c:pt idx="4">
                  <c:v>0.745</c:v>
                </c:pt>
                <c:pt idx="5">
                  <c:v>0.489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M2N2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Sheet1!$A$2:$A$7</c:f>
              <c:strCache>
                <c:ptCount val="6"/>
                <c:pt idx="0">
                  <c:v>1-4</c:v>
                </c:pt>
                <c:pt idx="1">
                  <c:v>1-7</c:v>
                </c:pt>
                <c:pt idx="2">
                  <c:v>1-8</c:v>
                </c:pt>
                <c:pt idx="3">
                  <c:v>2-1</c:v>
                </c:pt>
                <c:pt idx="4">
                  <c:v>2-4</c:v>
                </c:pt>
                <c:pt idx="5">
                  <c:v>3-2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0.897</c:v>
                </c:pt>
                <c:pt idx="1">
                  <c:v>0.644</c:v>
                </c:pt>
                <c:pt idx="2">
                  <c:v>0.754</c:v>
                </c:pt>
                <c:pt idx="3">
                  <c:v>0.797</c:v>
                </c:pt>
                <c:pt idx="4">
                  <c:v>0.811</c:v>
                </c:pt>
                <c:pt idx="5">
                  <c:v>0.451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CANDI</c:v>
                </c:pt>
              </c:strCache>
            </c:strRef>
          </c:tx>
          <c:spPr>
            <a:solidFill>
              <a:srgbClr val="8B3A1A"/>
            </a:solidFill>
          </c:spPr>
          <c:cat>
            <c:strRef>
              <c:f>Sheet1!$A$2:$A$7</c:f>
              <c:strCache>
                <c:ptCount val="6"/>
                <c:pt idx="0">
                  <c:v>1-4</c:v>
                </c:pt>
                <c:pt idx="1">
                  <c:v>1-7</c:v>
                </c:pt>
                <c:pt idx="2">
                  <c:v>1-8</c:v>
                </c:pt>
                <c:pt idx="3">
                  <c:v>2-1</c:v>
                </c:pt>
                <c:pt idx="4">
                  <c:v>2-4</c:v>
                </c:pt>
                <c:pt idx="5">
                  <c:v>3-2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0.759</c:v>
                </c:pt>
                <c:pt idx="1">
                  <c:v>0.824</c:v>
                </c:pt>
                <c:pt idx="2">
                  <c:v>0.676</c:v>
                </c:pt>
                <c:pt idx="3">
                  <c:v>0.695</c:v>
                </c:pt>
                <c:pt idx="4">
                  <c:v>0.746</c:v>
                </c:pt>
                <c:pt idx="5">
                  <c:v>0.502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latin typeface="Times New Roman"/>
                  </a:rPr>
                  <a:t>SMD machine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Walk left to right. Data is cut into windows, normalised, passed through the autoencoder, scored and thresholded. The orange box is the test-time adaptation loop.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AUPRC measures how well the scores rank anomalies. Paper values: machine 1-4 from the M2N2 paper, the others from the CANDI paper's table. Be honest about the gap on 1-7 and 3-2: the paper gives no settings for those machines, so we used defaults.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AUROC averaged over 3 seeds. M2N2 improves on 4 of 6 machines (largest gain on 1-4). It is worse on 1-7 and 3-2 where settings are untuned. CANDI's gain in our reproduction is smaller than the paper reports.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756" y="98072"/>
            <a:ext cx="2213244" cy="898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3681"/>
            <a:ext cx="12192000" cy="173935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Click to edit title"/>
          <p:cNvSpPr txBox="1">
            <a:spLocks noGrp="1"/>
          </p:cNvSpPr>
          <p:nvPr>
            <p:ph type="title" hasCustomPrompt="1"/>
          </p:nvPr>
        </p:nvSpPr>
        <p:spPr>
          <a:xfrm>
            <a:off x="419098" y="1855177"/>
            <a:ext cx="7934326" cy="1021374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rgbClr val="87110E"/>
                </a:solidFill>
              </a:defRPr>
            </a:lvl1pPr>
          </a:lstStyle>
          <a:p>
            <a:r>
              <a:t>Click to edit title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traight Connector 8"/>
          <p:cNvSpPr/>
          <p:nvPr/>
        </p:nvSpPr>
        <p:spPr>
          <a:xfrm>
            <a:off x="438389" y="1072113"/>
            <a:ext cx="4155146" cy="1"/>
          </a:xfrm>
          <a:prstGeom prst="line">
            <a:avLst/>
          </a:prstGeom>
          <a:ln w="47625">
            <a:solidFill>
              <a:srgbClr val="FF7F1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0304" y="5696830"/>
            <a:ext cx="3459487" cy="168859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traight Connector 8"/>
          <p:cNvSpPr/>
          <p:nvPr/>
        </p:nvSpPr>
        <p:spPr>
          <a:xfrm>
            <a:off x="438389" y="1072113"/>
            <a:ext cx="4155146" cy="1"/>
          </a:xfrm>
          <a:prstGeom prst="line">
            <a:avLst/>
          </a:prstGeom>
          <a:ln w="47625">
            <a:solidFill>
              <a:srgbClr val="FF7F1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150" y="1276350"/>
            <a:ext cx="5495925" cy="4800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0304" y="5696830"/>
            <a:ext cx="3459487" cy="1688596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ank you">
    <p:bg>
      <p:bgPr>
        <a:solidFill>
          <a:srgbClr val="6D11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"/>
          <p:cNvSpPr txBox="1"/>
          <p:nvPr/>
        </p:nvSpPr>
        <p:spPr>
          <a:xfrm>
            <a:off x="929434" y="3098443"/>
            <a:ext cx="6415491" cy="64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FE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Thank you  </a:t>
            </a:r>
          </a:p>
        </p:txBody>
      </p:sp>
      <p:sp>
        <p:nvSpPr>
          <p:cNvPr id="58" name="Straight Connector 6"/>
          <p:cNvSpPr/>
          <p:nvPr/>
        </p:nvSpPr>
        <p:spPr>
          <a:xfrm>
            <a:off x="406305" y="3943649"/>
            <a:ext cx="4155146" cy="1"/>
          </a:xfrm>
          <a:prstGeom prst="line">
            <a:avLst/>
          </a:prstGeom>
          <a:ln w="47625">
            <a:solidFill>
              <a:srgbClr val="FF7F1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780" y="5290889"/>
            <a:ext cx="3459488" cy="1688596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Rectangle 8"/>
          <p:cNvSpPr txBox="1"/>
          <p:nvPr/>
        </p:nvSpPr>
        <p:spPr>
          <a:xfrm>
            <a:off x="592941" y="6324017"/>
            <a:ext cx="202636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www.mitvpu.ac.in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38200" y="2263373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pic>
        <p:nvPicPr>
          <p:cNvPr id="7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3681"/>
            <a:ext cx="12192000" cy="173935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2pPr marL="685800" indent="-228600"/>
            <a:lvl3pPr marL="1143000" indent="-228600"/>
            <a:lvl4pPr marL="1600200" indent="-228600"/>
            <a:lvl5pPr marL="2057400" indent="-22860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81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780" y="5290889"/>
            <a:ext cx="3459488" cy="1688596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9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lvl1pPr>
            <a:lvl2pPr marL="0" indent="4572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lvl2pPr>
            <a:lvl3pPr marL="0" indent="9144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lvl3pPr>
            <a:lvl4pPr marL="0" indent="13716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lvl4pPr>
            <a:lvl5pPr marL="0" indent="18288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Apto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93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780" y="5290889"/>
            <a:ext cx="3459488" cy="1688596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5" descr="Picture 5"/>
          <p:cNvPicPr>
            <a:picLocks noChangeAspect="1"/>
          </p:cNvPicPr>
          <p:nvPr/>
        </p:nvPicPr>
        <p:blipFill>
          <a:blip r:embed="rId2"/>
          <a:srcRect t="11278" b="11278"/>
          <a:stretch>
            <a:fillRect/>
          </a:stretch>
        </p:blipFill>
        <p:spPr>
          <a:xfrm>
            <a:off x="0" y="1259979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848" y="76563"/>
            <a:ext cx="2213244" cy="898938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7"/>
          <p:cNvSpPr txBox="1"/>
          <p:nvPr/>
        </p:nvSpPr>
        <p:spPr>
          <a:xfrm>
            <a:off x="45719" y="6308078"/>
            <a:ext cx="600456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www.mitvpu.ac.in</a:t>
            </a:r>
          </a:p>
        </p:txBody>
      </p:sp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0" y="1753623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6D110E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Title Text</a:t>
            </a:r>
          </a:p>
        </p:txBody>
      </p:sp>
      <p:sp>
        <p:nvSpPr>
          <p:cNvPr id="11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+mj-lt"/>
                <a:ea typeface="+mj-ea"/>
                <a:cs typeface="+mj-cs"/>
                <a:sym typeface="Aptos"/>
              </a:defRPr>
            </a:lvl1pPr>
            <a:lvl2pPr marL="723900" indent="-266700">
              <a:defRPr sz="2800">
                <a:latin typeface="+mj-lt"/>
                <a:ea typeface="+mj-ea"/>
                <a:cs typeface="+mj-cs"/>
                <a:sym typeface="Aptos"/>
              </a:defRPr>
            </a:lvl2pPr>
            <a:lvl3pPr marL="1234439" indent="-320039">
              <a:defRPr sz="2800">
                <a:latin typeface="+mj-lt"/>
                <a:ea typeface="+mj-ea"/>
                <a:cs typeface="+mj-cs"/>
                <a:sym typeface="Aptos"/>
              </a:defRPr>
            </a:lvl3pPr>
            <a:lvl4pPr marL="1727200" indent="-355600">
              <a:defRPr sz="2800">
                <a:latin typeface="+mj-lt"/>
                <a:ea typeface="+mj-ea"/>
                <a:cs typeface="+mj-cs"/>
                <a:sym typeface="Aptos"/>
              </a:defRPr>
            </a:lvl4pPr>
            <a:lvl5pPr marL="2184400" indent="-355600">
              <a:defRPr sz="2800">
                <a:latin typeface="+mj-lt"/>
                <a:ea typeface="+mj-ea"/>
                <a:cs typeface="+mj-cs"/>
                <a:sym typeface="Apto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Title Text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Aptos"/>
              </a:defRPr>
            </a:lvl1pPr>
            <a:lvl2pPr marL="0" indent="4572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Aptos"/>
              </a:defRPr>
            </a:lvl2pPr>
            <a:lvl3pPr marL="0" indent="9144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Aptos"/>
              </a:defRPr>
            </a:lvl3pPr>
            <a:lvl4pPr marL="0" indent="13716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Aptos"/>
              </a:defRPr>
            </a:lvl4pPr>
            <a:lvl5pPr marL="0" indent="18288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Apto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8"/>
          <p:cNvSpPr/>
          <p:nvPr/>
        </p:nvSpPr>
        <p:spPr>
          <a:xfrm>
            <a:off x="438389" y="1072113"/>
            <a:ext cx="4155146" cy="1"/>
          </a:xfrm>
          <a:prstGeom prst="line">
            <a:avLst/>
          </a:prstGeom>
          <a:ln w="47625">
            <a:solidFill>
              <a:srgbClr val="FF7F14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438390" y="365125"/>
            <a:ext cx="10515601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438150" y="1276350"/>
            <a:ext cx="11449050" cy="480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Picture 12" descr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-225072" y="5848973"/>
            <a:ext cx="1234099" cy="78395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13" descr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71973" y="0"/>
            <a:ext cx="841971" cy="9508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31519" marR="0" indent="-2743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145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717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5"/>
          <p:cNvSpPr txBox="1"/>
          <p:nvPr/>
        </p:nvSpPr>
        <p:spPr>
          <a:xfrm>
            <a:off x="883919" y="914923"/>
            <a:ext cx="10693791" cy="2290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Test-Time Adaptive Anomaly Detection for Sensor-Based Time-Series Monitoring Under Distribution Shift</a:t>
            </a:r>
          </a:p>
          <a:p>
            <a:pPr algn="ctr"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No  : 2</a:t>
            </a:r>
          </a:p>
          <a:p>
            <a:pPr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Guided By : Dr. Arpita Mandal</a:t>
            </a:r>
          </a:p>
          <a:p>
            <a:pPr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Phase 1 recap and Phase 2 progress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Team Members</a:t>
            </a:r>
          </a:p>
        </p:txBody>
      </p:sp>
      <p:graphicFrame>
        <p:nvGraphicFramePr>
          <p:cNvPr id="136" name="Content Placeholder 4"/>
          <p:cNvGraphicFramePr/>
          <p:nvPr/>
        </p:nvGraphicFramePr>
        <p:xfrm>
          <a:off x="438150" y="1276350"/>
          <a:ext cx="7076747" cy="14833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98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SCFU424005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Tanishka Mahindrakar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SCFU424023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Unnati Patro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SCFU424012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Purav Patil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Agenda</a:t>
            </a:r>
          </a:p>
        </p:txBody>
      </p:sp>
      <p:sp>
        <p:nvSpPr>
          <p:cNvPr id="139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 statement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Objectives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 Description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Proposed Solution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Dataset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Training/ Pre-requisites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Timeline/Milestones</a:t>
            </a:r>
          </a:p>
          <a:p>
            <a:pPr>
              <a:buClr>
                <a:srgbClr val="000000"/>
              </a:buClr>
              <a:buSzPct val="110000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Domain and Problem Statement</a:t>
            </a:r>
          </a:p>
        </p:txBody>
      </p:sp>
      <p:sp>
        <p:nvSpPr>
          <p:cNvPr id="142" name="Content Placeholder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Develop a test-time adaptation module for an unsupervised time-series anomaly detector on the Yahoo Webscope dataset to adapt to changes in normal time-series behavior during testing, reduce false alarms caused by distribution shifts, and improve detection performance measured using F1 score and AUROC compared with a static (non-adaptive) baseline detector.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145" name="Content Placeholder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 an EMA-based trend estimation and detrending module for changing data behavior.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 test-time model adaptation using samples predicted as normal.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Compare the adaptive model with a static baseline using F1, AUROC and AUPRC.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48" name="Content Placeholder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9 Datasets in the Paper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chose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Yahoo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Webscope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S5 dataset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Methods &amp; Proposed Solution</a:t>
            </a:r>
          </a:p>
        </p:txBody>
      </p:sp>
      <p:pic>
        <p:nvPicPr>
          <p:cNvPr id="152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981" y="1204547"/>
            <a:ext cx="3200401" cy="480060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Box 7"/>
          <p:cNvSpPr txBox="1"/>
          <p:nvPr/>
        </p:nvSpPr>
        <p:spPr>
          <a:xfrm>
            <a:off x="297037" y="1358393"/>
            <a:ext cx="7483866" cy="369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uses the Yahoo time-series dataset, followed by preprocessing and EMA-based trend estimation to remove changing trends.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detrended data is passed through an MLP Autoencoder to calculate reconstruction error and anomaly scores.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testing, the model adapts online using samples predicted as normal, followed by final anomaly detection and evaluation using F1 Score, AUROC, and AUPRC.</a:t>
            </a:r>
          </a:p>
          <a:p>
            <a:pPr marL="285750" indent="-285750">
              <a:buSzPct val="100000"/>
              <a:buFont typeface="Arial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adaptive anomaly detection framework that combines EMA-based detrending with an MLP Autoencoder and test-time model adaptation.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F1 Score | AUROC | AUPRC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Why EMA for Trend Estimatio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EMA for Trend Estimation?</a:t>
            </a:r>
          </a:p>
        </p:txBody>
      </p:sp>
      <p:sp>
        <p:nvSpPr>
          <p:cNvPr id="156" name="1)Cheap &amp; fast: EMA is just one simple formula — no extra training, no heavy computation. Perfect for real-time systems where data keeps streaming i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 &amp; fast: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 is just one simple formula — no extra training, no heavy computation. Perfect for real-time systems where data keeps streaming in.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needed: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only needs the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 value + current window average — doesn't need to store a long history. Matches their goal of "process and evict" (lightweight, real-time-friendly).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adapts: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 automatically shifts toward new patterns while still being stable against noise — exactly what's needed to track a "moving normal.”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&amp; simple: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It's a well-established statistical technique (from Muth, 1960) — reliable, not experimental.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Why MLP Autoencoder model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MLP Autoencoder model?</a:t>
            </a:r>
          </a:p>
        </p:txBody>
      </p:sp>
      <p:sp>
        <p:nvSpPr>
          <p:cNvPr id="159" name="1)Their method is model-agnostic: The paper's real contribution is the adaptation strategy (trend + online update), not a new architecture. So they picked a simple, well-known baseline (MLP autoencoder) to prove their strategy works — even on a basic mod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method is model-agnostic: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paper's real contribution is the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strategy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(trend + online update), not a new architecture. So they picked a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well-known baseline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(MLP autoencoder) to prove their strategy works — even on a basic model.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works on a simple model, it's a strong result: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improvement on a "plain" MLP proves the gain comes from their trend/adaptation idea — not from a fancy, complicated model doing the heavy lifting.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Reconstruction-based fits naturally: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Autoencoders are built to reconstruct normal data well and struggle with anomalies — this fits perfectly with their loss function (Eq. 4), which is based on reconstruction error.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plug their method into: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normalize → model →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denormalize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(Fig. 3) is architecture-agnostic — it just needed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reconstruction model to demonstrate the idea, and MLP is the simplest choice.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Outcomes</a:t>
            </a:r>
          </a:p>
        </p:txBody>
      </p:sp>
      <p:sp>
        <p:nvSpPr>
          <p:cNvPr id="162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Our project mainly focuses on:</a:t>
            </a:r>
          </a:p>
          <a:p>
            <a:pPr marL="685800" lvl="1" indent="-228600"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Adapting anomaly detection models to changing normal time-series behavior.</a:t>
            </a:r>
            <a:endParaRPr sz="2000" dirty="0"/>
          </a:p>
          <a:p>
            <a:pPr marL="685800" lvl="1" indent="-228600"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Reducing false alarms caused by distribution shift during deployment.</a:t>
            </a:r>
            <a:endParaRPr sz="2000" dirty="0"/>
          </a:p>
          <a:p>
            <a:pPr marL="685800" lvl="1" indent="-228600"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Improving anomaly detection performance using test-time adaptation.</a:t>
            </a:r>
            <a:endParaRPr sz="2000" dirty="0"/>
          </a:p>
          <a:p>
            <a:pPr marL="685800" lvl="1" indent="-228600"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Comparing the adaptive model with a static baseline using F1 Score, AUROC, and AUPRC.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at Phase 1</a:t>
            </a:r>
          </a:p>
        </p:txBody>
      </p:sp>
      <p:sp>
        <p:nvSpPr>
          <p:cNvPr id="165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Topic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Finalised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Identified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 Initiated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 Created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Yet to Begin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imi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</a:t>
            </a:r>
          </a:p>
        </p:txBody>
      </p:sp>
      <p:sp>
        <p:nvSpPr>
          <p:cNvPr id="168" name="1. Threshold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600" b="1">
                <a:latin typeface="Tahoma"/>
                <a:ea typeface="Tahoma"/>
                <a:cs typeface="Tahoma"/>
                <a:sym typeface="Tahom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Threshold Problem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Ideally, you'd pick the "anomaly cutoff" (threshold) by testing all possible values on the test data and choosing whichever works best.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You can't do that in real life — you don't have test data with answers ahead of time.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fix: They didn't use that "cheat" — instead, they set the threshold using only training data stats, and reported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threshold-free performance score) to be fair.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could be even better with a smarter threshold-picking method — they admit this is still an open problem.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400" b="1">
                <a:latin typeface="Tahoma"/>
                <a:ea typeface="Tahoma"/>
                <a:cs typeface="Tahoma"/>
                <a:sym typeface="Tahom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Inconsistent Labeling (What counts as "anomaly" is unclear)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situations define "anomaly" differently — there's no universal rule.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When test data looks very different from training data, you can't always tell — is this a real anomaly, or just a legitimate "new normal" (distribution shift)?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fix: They assume most test data is still normal, and use trend estimation + the model's own predictions to guess what's normal.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a workaround, not a real solution. A better fix could be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learning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having a human occasionally label a few test samples to guide the model, but they didn't do this; they just suggest it as future work.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uture Direction (mentioned, not implemented): Use active learning — have humans label a small subset of test data to reduce the ambiguity between "anomaly" vs. "new normal.”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Phase 2: Progress Update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Phase 2 Evaluation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12" y="1280160"/>
            <a:ext cx="11338560" cy="4572000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1.  High-Level Design</a:t>
            </a:r>
          </a:p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2.  Model Development and Integration</a:t>
            </a:r>
          </a:p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3.  Model Version, Metadata and Metrics</a:t>
            </a:r>
          </a:p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4.  Git and GitHub</a:t>
            </a:r>
          </a:p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5.  Folder and File Structure</a:t>
            </a:r>
          </a:p>
          <a:p>
            <a:pPr marL="0" indent="0">
              <a:spcAft>
                <a:spcPts val="1400"/>
              </a:spcAft>
              <a:buNone/>
            </a:pPr>
            <a:r>
              <a:rPr sz="2600">
                <a:latin typeface="Times New Roman"/>
                <a:cs typeface="Times New Roman"/>
              </a:rPr>
              <a:t>6.  Results and Next Steps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1. High-Level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1430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How the system works,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1. Server data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SMD: 38 sensors per machine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30552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2. Windows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Cut the stream into short pieces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93592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58184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3. Normalise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Remove slow drift (EMA)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21224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85816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6D4CC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4. MLP autoencoder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Learns what normal looks like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48855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13448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6D4CC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5. Anomaly score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Copy error: big = unusual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76488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41080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6. Threshold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Above cut-off = alarm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04120" y="2514600"/>
            <a:ext cx="155448" cy="2286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68712" y="1737360"/>
            <a:ext cx="1444752" cy="178308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  <a:cs typeface="Times New Roman"/>
              </a:rPr>
              <a:t>7. Evaluate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F1, AUPRC, AUROC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4700016" cy="118872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cs typeface="Times New Roman"/>
              </a:rPr>
              <a:t>Before deployment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  <a:cs typeface="Times New Roman"/>
              </a:rPr>
              <a:t>The model learns from normal history only. No anomaly labels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5816" y="3840480"/>
            <a:ext cx="4700016" cy="118872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cs typeface="Times New Roman"/>
              </a:rPr>
              <a:t>Test-time adaptation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  <a:cs typeface="Times New Roman"/>
              </a:rPr>
              <a:t>While running, windows judged normal update the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303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cs typeface="Times New Roman"/>
              </a:rPr>
              <a:t>Every model gets the same data, the same metrics and the same random seeds.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High-Level Design: Models Compared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017520"/>
                <a:gridCol w="5212080"/>
                <a:gridCol w="301752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How it works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it updates</a:t>
                      </a:r>
                    </a:p>
                  </a:txBody>
                  <a:tcPr anchor="ctr" marL="91440" marR="91440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Pretrained baseline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Trained once on normal data, then frozen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Nothing</a:t>
                      </a:r>
                    </a:p>
                  </a:txBody>
                  <a:tcPr anchor="ctr" marL="91440" marR="91440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M2N2 (AAAI 2024)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EMA detrending + update on windows judged normal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Whole MLP</a:t>
                      </a:r>
                    </a:p>
                  </a:txBody>
                  <a:tcPr anchor="ctr" marL="91440" marR="91440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CANDI (AAAI 2026)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Picks safe windows to learn from; trains a small add-on (SANA)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SANA add-on only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cs typeface="Times New Roman"/>
              </a:rPr>
              <a:t>All three use the same MLP autoencoder, so differences come from the adaptation strategy.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High-Level Design: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137160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Inputs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SMD data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Config files (YAML)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3716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6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Evaluation harness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Methods: M2N2, CANDI, baseline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Thresholds: fixed, streaming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Normalisation: EMA, RevIN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Backbone: MLP (swappable)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371600"/>
            <a:ext cx="3108960" cy="228600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Outputs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Raw scores and alarms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Metrics (12 per run)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Run settings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• Comparison tables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2148840"/>
            <a:ext cx="320040" cy="36576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8229600" y="2148840"/>
            <a:ext cx="320040" cy="36576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365760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Every method has the same two functions: fit() and score().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Thresholds and metrics are separate from the models, so all models are graded the same 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2. Model Development: What Is Built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7315200"/>
                <a:gridCol w="3931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MLP autoencoder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✓ Done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Pretrained baseline (static)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✓ Done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M2N2 (adaptive method 1)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✓ Done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CANDI (adaptive method 2)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✓ Done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Metrics and tests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✓ Done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Streaming threshold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Coded, results next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RevIN normalisation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Coded, results next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Other backbones and latency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Planned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595959"/>
                </a:solidFill>
                <a:latin typeface="Times New Roman"/>
                <a:cs typeface="Times New Roman"/>
              </a:rPr>
              <a:t>Done = built and run end to end on SMD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Model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12" y="1280160"/>
            <a:ext cx="11338560" cy="329184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2200" b="1">
                <a:latin typeface="Times New Roman"/>
                <a:cs typeface="Times New Roman"/>
              </a:rPr>
              <a:t>One config file </a:t>
            </a:r>
            <a:r>
              <a:rPr sz="2200">
                <a:latin typeface="Times New Roman"/>
                <a:cs typeface="Times New Roman"/>
              </a:rPr>
              <a:t>drives the whole run.</a:t>
            </a:r>
          </a:p>
          <a:p>
            <a:pPr>
              <a:spcAft>
                <a:spcPts val="1200"/>
              </a:spcAft>
            </a:pPr>
            <a:r>
              <a:rPr sz="2200" b="1">
                <a:latin typeface="Times New Roman"/>
                <a:cs typeface="Times New Roman"/>
              </a:rPr>
              <a:t>Steps: </a:t>
            </a:r>
            <a:r>
              <a:rPr sz="2200">
                <a:latin typeface="Times New Roman"/>
                <a:cs typeface="Times New Roman"/>
              </a:rPr>
              <a:t>load data, train, stream the test data and adapt, apply threshold, compute metrics, save.</a:t>
            </a:r>
          </a:p>
          <a:p>
            <a:pPr>
              <a:spcAft>
                <a:spcPts val="1200"/>
              </a:spcAft>
            </a:pPr>
            <a:r>
              <a:rPr sz="2200" b="1">
                <a:latin typeface="Times New Roman"/>
                <a:cs typeface="Times New Roman"/>
              </a:rPr>
              <a:t>Docker </a:t>
            </a:r>
            <a:r>
              <a:rPr sz="2200">
                <a:latin typeface="Times New Roman"/>
                <a:cs typeface="Times New Roman"/>
              </a:rPr>
              <a:t>packages the environment, so it runs the same on any machine.</a:t>
            </a:r>
          </a:p>
          <a:p>
            <a:pPr>
              <a:spcAft>
                <a:spcPts val="1200"/>
              </a:spcAft>
            </a:pPr>
            <a:r>
              <a:rPr sz="2200" b="1">
                <a:latin typeface="Times New Roman"/>
                <a:cs typeface="Times New Roman"/>
              </a:rPr>
              <a:t>54 full runs </a:t>
            </a:r>
            <a:r>
              <a:rPr sz="2200">
                <a:latin typeface="Times New Roman"/>
                <a:cs typeface="Times New Roman"/>
              </a:rPr>
              <a:t>(6 machines x 3 models x 3 seeds) and 6 quick runs completed.</a:t>
            </a:r>
          </a:p>
          <a:p>
            <a:pPr>
              <a:spcAft>
                <a:spcPts val="1200"/>
              </a:spcAft>
            </a:pPr>
            <a:r>
              <a:rPr sz="2200" b="1">
                <a:latin typeface="Times New Roman"/>
                <a:cs typeface="Times New Roman"/>
              </a:rPr>
              <a:t>22+ automated tests </a:t>
            </a:r>
            <a:r>
              <a:rPr sz="2200">
                <a:latin typeface="Times New Roman"/>
                <a:cs typeface="Times New Roman"/>
              </a:rPr>
              <a:t>cover metrics, thresholds, windows and normalisation.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46177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cs typeface="Times New Roman"/>
              </a:rPr>
              <a:t>Run it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Times New Roman"/>
                <a:cs typeface="Times New Roman"/>
              </a:rPr>
              <a:t>docker compose run --rm data     |     quick     |     smd     |     compare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3. Model Version and Metadata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1280160"/>
          <a:ext cx="11247120" cy="2267712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011680"/>
                <a:gridCol w="3291840"/>
                <a:gridCol w="1097280"/>
                <a:gridCol w="2834640"/>
                <a:gridCol w="20116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Config file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Window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Test-time update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Parameters</a:t>
                      </a:r>
                    </a:p>
                  </a:txBody>
                  <a:tcPr anchor="ctr" marL="91440" marR="91440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Pretrained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configs/methods/pretrained.yaml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None (frozen)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≈ 102 K</a:t>
                      </a:r>
                    </a:p>
                  </a:txBody>
                  <a:tcPr anchor="ctr" marL="91440" marR="91440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M2N2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configs/methods/m2n2.yaml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SGD, 1 step per window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≈ 53 K</a:t>
                      </a:r>
                    </a:p>
                  </a:txBody>
                  <a:tcPr anchor="ctr" marL="91440" marR="91440"/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CANDI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configs/methods/candi.yaml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SGD on selected windows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≈ 102 K + 2.1 M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37490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Saved automatically with every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•  run.json: settings, dataset, seed, Git commit, threshold, number of updates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•  metrics.json: all 12 metric values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•  scores.npy and preds.npy: raw score and alarm for every time step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Metrics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1371600"/>
          <a:ext cx="11247120" cy="34290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560320"/>
                <a:gridCol w="86868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Meaning in simple words</a:t>
                      </a:r>
                    </a:p>
                  </a:txBody>
                  <a:tcPr anchor="ctr" marL="91440" marR="91440"/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F1 score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Balance of real alarms and caught anomalies (needs a threshold)</a:t>
                      </a:r>
                    </a:p>
                  </a:txBody>
                  <a:tcPr anchor="ctr" marL="91440" marR="91440"/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AUPRC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How well the scores rank the rare anomalies (no threshold needed)</a:t>
                      </a:r>
                    </a:p>
                  </a:txBody>
                  <a:tcPr anchor="ctr" marL="91440" marR="91440"/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AUROC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Chance an anomaly scores higher than normal data (no threshold needed)</a:t>
                      </a:r>
                    </a:p>
                  </a:txBody>
                  <a:tcPr anchor="ctr" marL="91440" marR="91440"/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PA%K, F1-PA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Credit for detecting part of an anomaly period (reference only)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Results: Our M2N2 vs Published Paper (AUPRC)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38912" y="1234440"/>
          <a:ext cx="75895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0" y="141732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Reading the chart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  <a:cs typeface="Times New Roman"/>
              </a:rPr>
              <a:t>• Machines 1-4 and 2-1 (tuned in the paper): we match or beat it. AUROC 0.897 vs 0.845 and 0.797 vs 0.764.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  <a:cs typeface="Times New Roman"/>
              </a:rPr>
              <a:t>• Machines 1-8 and 2-4: close.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  <a:cs typeface="Times New Roman"/>
              </a:rPr>
              <a:t>• Machines 1-7 and 3-2: gap. We used default settings there.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Results: Static vs Adaptive Models (AUROC)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38912" y="1234440"/>
          <a:ext cx="78638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417320"/>
            <a:ext cx="3246120" cy="4206240"/>
          </a:xfrm>
          <a:prstGeom prst="roundRect">
            <a:avLst>
              <a:gd name="adj" fmla="val 8000"/>
            </a:avLst>
          </a:prstGeom>
          <a:solidFill>
            <a:srgbClr val="FB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cs typeface="Times New Roman"/>
              </a:rPr>
              <a:t>Mean AUROC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cs typeface="Times New Roman"/>
              </a:rPr>
              <a:t>Static baseline: 0.695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M2N2: 0.726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cs typeface="Times New Roman"/>
              </a:rPr>
              <a:t>CANDI: 0.700</a:t>
            </a:r>
          </a:p>
          <a:p>
            <a:pPr algn="l"/>
            <a:r>
              <a:rPr sz="1700" b="0">
                <a:solidFill>
                  <a:srgbClr val="000000"/>
                </a:solidFill>
                <a:latin typeface="Times New Roman"/>
                <a:cs typeface="Times New Roman"/>
              </a:rPr>
              <a:t>M2N2 beats the static baseline on 4 of 6 machines. CANDI's gain is small so far; tuning it is our next step.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4. Git and GitHub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12" y="1280160"/>
            <a:ext cx="11338560" cy="457200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200" b="1">
                <a:latin typeface="Times New Roman"/>
                <a:cs typeface="Times New Roman"/>
              </a:rPr>
              <a:t>Repository: </a:t>
            </a:r>
            <a:r>
              <a:rPr sz="2200">
                <a:latin typeface="Times New Roman"/>
                <a:cs typeface="Times New Roman"/>
              </a:rPr>
              <a:t>github.com/PuravPatil/test-time-adaptation-tsad1</a:t>
            </a:r>
          </a:p>
          <a:p>
            <a:pPr>
              <a:spcAft>
                <a:spcPts val="1400"/>
              </a:spcAft>
            </a:pPr>
            <a:r>
              <a:rPr sz="2200" b="1">
                <a:latin typeface="Times New Roman"/>
                <a:cs typeface="Times New Roman"/>
              </a:rPr>
              <a:t>Branch per person </a:t>
            </a:r>
            <a:r>
              <a:rPr sz="2200">
                <a:latin typeface="Times New Roman"/>
                <a:cs typeface="Times New Roman"/>
              </a:rPr>
              <a:t>(name/topic), merged by pull request with one review.</a:t>
            </a:r>
          </a:p>
          <a:p>
            <a:pPr>
              <a:spcAft>
                <a:spcPts val="1400"/>
              </a:spcAft>
            </a:pPr>
            <a:r>
              <a:rPr sz="2200" b="1">
                <a:latin typeface="Times New Roman"/>
                <a:cs typeface="Times New Roman"/>
              </a:rPr>
              <a:t>Automated tests </a:t>
            </a:r>
            <a:r>
              <a:rPr sz="2200">
                <a:latin typeface="Times New Roman"/>
                <a:cs typeface="Times New Roman"/>
              </a:rPr>
              <a:t>run on every pull request (GitHub Actions).</a:t>
            </a:r>
          </a:p>
          <a:p>
            <a:pPr>
              <a:spcAft>
                <a:spcPts val="1400"/>
              </a:spcAft>
            </a:pPr>
            <a:r>
              <a:rPr sz="2200" b="1">
                <a:latin typeface="Times New Roman"/>
                <a:cs typeface="Times New Roman"/>
              </a:rPr>
              <a:t>Original paper code </a:t>
            </a:r>
            <a:r>
              <a:rPr sz="2200">
                <a:latin typeface="Times New Roman"/>
                <a:cs typeface="Times New Roman"/>
              </a:rPr>
              <a:t>is never edited; our changes live in our own adapters.</a:t>
            </a:r>
          </a:p>
          <a:p>
            <a:pPr>
              <a:spcAft>
                <a:spcPts val="1400"/>
              </a:spcAft>
            </a:pPr>
            <a:r>
              <a:rPr sz="2200" b="1">
                <a:latin typeface="Times New Roman"/>
                <a:cs typeface="Times New Roman"/>
              </a:rPr>
              <a:t>Data and run outputs </a:t>
            </a:r>
            <a:r>
              <a:rPr sz="2200">
                <a:latin typeface="Times New Roman"/>
                <a:cs typeface="Times New Roman"/>
              </a:rPr>
              <a:t>are kept out of Git.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5. Folder and File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1234440"/>
          <a:ext cx="11247120" cy="45720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931920"/>
                <a:gridCol w="7315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Folder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configs/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All settings: datasets, methods, experiments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src/audit/data, backbones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SMD loader, windowing, MLP autoencoder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src/audit/methods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M2N2 and CANDI behind one interface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src/audit/normalization, thresholds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EMA / RevIN; fixed / streaming threshold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src/audit/evaluation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Metrics, harness, latency timer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scripts/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Download, preprocess, run, compare with paper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tests/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Automated tests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results/, data/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Run outputs and summary tables; datasets</a:t>
                      </a:r>
                    </a:p>
                  </a:txBody>
                  <a:tcPr anchor="ctr" marL="91440" marR="91440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docs/, README.md, Dockerfile</a:t>
                      </a:r>
                    </a:p>
                  </a:txBody>
                  <a:tcPr anchor="ctr" marL="91440" marR="91440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Notes, how to run, container setup</a:t>
                      </a:r>
                    </a:p>
                  </a:txBody>
                  <a:tcPr anchor="ctr"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12" y="1280160"/>
            <a:ext cx="11338560" cy="45720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Weeks 4-6: </a:t>
            </a:r>
            <a:r>
              <a:rPr sz="2200">
                <a:latin typeface="Times New Roman"/>
                <a:cs typeface="Times New Roman"/>
              </a:rPr>
              <a:t>three extension studies on the same harness.</a:t>
            </a:r>
          </a:p>
          <a:p>
            <a:pPr lvl="1"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Tanishka: </a:t>
            </a:r>
            <a:r>
              <a:rPr sz="2200">
                <a:latin typeface="Times New Roman"/>
                <a:cs typeface="Times New Roman"/>
              </a:rPr>
              <a:t>RevIN vs EMA normalisation</a:t>
            </a:r>
          </a:p>
          <a:p>
            <a:pPr lvl="1"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Purav: </a:t>
            </a:r>
            <a:r>
              <a:rPr sz="2200">
                <a:latin typeface="Times New Roman"/>
                <a:cs typeface="Times New Roman"/>
              </a:rPr>
              <a:t>streaming threshold vs fixed threshold</a:t>
            </a:r>
          </a:p>
          <a:p>
            <a:pPr lvl="1"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Unnati: </a:t>
            </a:r>
            <a:r>
              <a:rPr sz="2200">
                <a:latin typeface="Times New Roman"/>
                <a:cs typeface="Times New Roman"/>
              </a:rPr>
              <a:t>other backbones and per-step latency</a:t>
            </a:r>
          </a:p>
          <a:p>
            <a:pPr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Tuning: </a:t>
            </a:r>
            <a:r>
              <a:rPr sz="2200">
                <a:latin typeface="Times New Roman"/>
                <a:cs typeface="Times New Roman"/>
              </a:rPr>
              <a:t>adjust M2N2 and CANDI settings to move closer to the papers.</a:t>
            </a:r>
          </a:p>
          <a:p>
            <a:pPr>
              <a:spcAft>
                <a:spcPts val="1000"/>
              </a:spcAft>
            </a:pPr>
            <a:r>
              <a:rPr sz="2200" b="1">
                <a:latin typeface="Times New Roman"/>
                <a:cs typeface="Times New Roman"/>
              </a:rPr>
              <a:t>Weeks 7-8: </a:t>
            </a:r>
            <a:r>
              <a:rPr sz="2200">
                <a:latin typeface="Times New Roman"/>
                <a:cs typeface="Times New Roman"/>
              </a:rPr>
              <a:t>live demo dashboard.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3"/>
          <p:cNvSpPr txBox="1">
            <a:spLocks noGrp="1"/>
          </p:cNvSpPr>
          <p:nvPr>
            <p:ph type="title"/>
          </p:nvPr>
        </p:nvSpPr>
        <p:spPr>
          <a:xfrm>
            <a:off x="838200" y="2263373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ITVPU White and Black">
  <a:themeElements>
    <a:clrScheme name="MITVPU White and 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MITVPU White and Black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MITVPU White and 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ITVPU White and Black">
  <a:themeElements>
    <a:clrScheme name="MITVPU White and 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MITVPU White and Black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MITVPU White and 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935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Times Roman</vt:lpstr>
      <vt:lpstr>MITVPU White and Black</vt:lpstr>
      <vt:lpstr>PowerPoint Presentation</vt:lpstr>
      <vt:lpstr>Team Members</vt:lpstr>
      <vt:lpstr>Agenda</vt:lpstr>
      <vt:lpstr>Domain and Problem Statement</vt:lpstr>
      <vt:lpstr>Objectives</vt:lpstr>
      <vt:lpstr>Dataset</vt:lpstr>
      <vt:lpstr>Methods &amp; Proposed Solution</vt:lpstr>
      <vt:lpstr>Why EMA for Trend Estimation?</vt:lpstr>
      <vt:lpstr>Why MLP Autoencoder model?</vt:lpstr>
      <vt:lpstr>Outcomes</vt:lpstr>
      <vt:lpstr>Current Progress</vt:lpstr>
      <vt:lpstr>Limitation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Purav Patil</dc:creator>
  <cp:lastModifiedBy>Purav Patil</cp:lastModifiedBy>
  <cp:revision>2</cp:revision>
  <dcterms:modified xsi:type="dcterms:W3CDTF">2026-09-24T09:07:47Z</dcterms:modified>
</cp:coreProperties>
</file>